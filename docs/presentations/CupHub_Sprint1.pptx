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7F3B6-B2E6-494F-8072-A77A76716A47}" v="402" dt="2026-03-09T22:37:43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4" d="100"/>
          <a:sy n="164" d="100"/>
        </p:scale>
        <p:origin x="-11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19786-3A06-46A8-9359-F23AF06A0D6D}" type="datetimeFigureOut">
              <a:t>09/03/2026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B8C16-6BAF-421C-A4D0-99CC731E6B9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132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93" y="1005840"/>
            <a:ext cx="2926080" cy="2926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" y="3982539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Torneios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674370"/>
            <a:ext cx="1371600" cy="347472"/>
          </a:xfrm>
          <a:prstGeom prst="rect">
            <a:avLst/>
          </a:prstGeom>
          <a:solidFill>
            <a:srgbClr val="D4920A"/>
          </a:solidFill>
          <a:ln w="12700">
            <a:solidFill>
              <a:srgbClr val="D492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67437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97680" y="11853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Desenvolvimento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4297680" y="1831261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Ideia do Projeto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4297680" y="2921684"/>
            <a:ext cx="448056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integrada para gerenciamento completo de torneios esportivos e competitivos — do planejamento até a premiação.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06240" y="4389120"/>
            <a:ext cx="4846320" cy="640080"/>
          </a:xfrm>
          <a:prstGeom prst="rect">
            <a:avLst/>
          </a:prstGeom>
          <a:solidFill>
            <a:srgbClr val="0D1530"/>
          </a:solidFill>
          <a:ln/>
        </p:spPr>
      </p:sp>
      <p:sp>
        <p:nvSpPr>
          <p:cNvPr id="20" name="Text 17"/>
          <p:cNvSpPr/>
          <p:nvPr/>
        </p:nvSpPr>
        <p:spPr>
          <a:xfrm>
            <a:off x="4206240" y="4389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 •  Engenharia de Software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Contextualização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34440"/>
            <a:ext cx="2651760" cy="82296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dos eSports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0352" y="26974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Competições esportivas crescem aceleradamente, impulsionadas pelas modalidades tradicionais e pelos esportes eletrônicos, especialmente em ambientes escolares e universitários.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234440"/>
            <a:ext cx="2651760" cy="82296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4" name="Shape 10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Transformação Digital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64992" y="26974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 de campeonatos tornou-se mais acessível. O cenário exige ferramentas que auxiliem na gestão e acompanhamento adequado das competições modernas.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12344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35040" y="1234440"/>
            <a:ext cx="2651760" cy="82296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0" name="Shape 15"/>
          <p:cNvSpPr/>
          <p:nvPr/>
        </p:nvSpPr>
        <p:spPr>
          <a:xfrm>
            <a:off x="704088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6304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7220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Solução Proposta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199632" y="26974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web completa: do planejamento inicial à premiação, reunindo configuração, inscrições, chaveamento automático e acompanhamento em um único ambiente.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25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HeaderGold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4" name="Logo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822960" cy="822960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109728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Trebuchet MS" pitchFamily="34" charset="0"/>
              </a:rPr>
              <a:t>Contextualização</a:t>
            </a:r>
          </a:p>
        </p:txBody>
      </p:sp>
      <p:sp>
        <p:nvSpPr>
          <p:cNvPr id="7" name="Caption"/>
          <p:cNvSpPr/>
          <p:nvPr/>
        </p:nvSpPr>
        <p:spPr>
          <a:xfrm>
            <a:off x="301942" y="3755237"/>
            <a:ext cx="4401425" cy="274638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8" name="CaptionTxt"/>
          <p:cNvSpPr/>
          <p:nvPr/>
        </p:nvSpPr>
        <p:spPr>
          <a:xfrm>
            <a:off x="314006" y="3742686"/>
            <a:ext cx="4389360" cy="274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i="1" dirty="0">
                <a:solidFill>
                  <a:srgbClr val="D4920A"/>
                </a:solidFill>
                <a:latin typeface="Calibri" pitchFamily="34" charset="0"/>
              </a:rPr>
              <a:t>Fonte: Terra Game On • Janeiro 2026</a:t>
            </a:r>
          </a:p>
        </p:txBody>
      </p:sp>
      <p:sp>
        <p:nvSpPr>
          <p:cNvPr id="9" name="TextCardBg"/>
          <p:cNvSpPr/>
          <p:nvPr/>
        </p:nvSpPr>
        <p:spPr>
          <a:xfrm>
            <a:off x="4938840" y="1184148"/>
            <a:ext cx="3883320" cy="32007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CardBar"/>
          <p:cNvSpPr/>
          <p:nvPr/>
        </p:nvSpPr>
        <p:spPr>
          <a:xfrm>
            <a:off x="4938840" y="1184148"/>
            <a:ext cx="3883320" cy="82296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2" name="StatNumber"/>
          <p:cNvSpPr/>
          <p:nvPr/>
        </p:nvSpPr>
        <p:spPr>
          <a:xfrm>
            <a:off x="5029200" y="1556897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600" b="1" dirty="0">
                <a:solidFill>
                  <a:srgbClr val="D4920A"/>
                </a:solidFill>
                <a:latin typeface="Trebuchet MS" pitchFamily="34" charset="0"/>
              </a:rPr>
              <a:t>59 milhões</a:t>
            </a:r>
          </a:p>
        </p:txBody>
      </p:sp>
      <p:sp>
        <p:nvSpPr>
          <p:cNvPr id="13" name="StatLabel"/>
          <p:cNvSpPr/>
          <p:nvPr/>
        </p:nvSpPr>
        <p:spPr>
          <a:xfrm>
            <a:off x="4998477" y="2166982"/>
            <a:ext cx="3520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100" b="1" dirty="0">
                <a:solidFill>
                  <a:srgbClr val="0F1B4C"/>
                </a:solidFill>
                <a:latin typeface="Trebuchet MS" pitchFamily="34" charset="0"/>
              </a:rPr>
              <a:t>de espectadores digitais de esportes</a:t>
            </a:r>
          </a:p>
        </p:txBody>
      </p:sp>
      <p:sp>
        <p:nvSpPr>
          <p:cNvPr id="14" name="Badge"/>
          <p:cNvSpPr/>
          <p:nvPr/>
        </p:nvSpPr>
        <p:spPr>
          <a:xfrm>
            <a:off x="5578920" y="2509882"/>
            <a:ext cx="2285760" cy="320040"/>
          </a:xfrm>
          <a:prstGeom prst="roundRect">
            <a:avLst>
              <a:gd name="adj" fmla="val 16667"/>
            </a:avLst>
          </a:prstGeom>
          <a:solidFill>
            <a:srgbClr val="0F1B4C"/>
          </a:solidFill>
          <a:ln/>
        </p:spPr>
      </p:sp>
      <p:sp>
        <p:nvSpPr>
          <p:cNvPr id="15" name="BadgeTxt"/>
          <p:cNvSpPr/>
          <p:nvPr/>
        </p:nvSpPr>
        <p:spPr>
          <a:xfrm>
            <a:off x="5578920" y="2509146"/>
            <a:ext cx="228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D4920A"/>
                </a:solidFill>
                <a:latin typeface="Trebuchet MS" pitchFamily="34" charset="0"/>
              </a:rPr>
              <a:t>🏆 2º maior audiência do mundo</a:t>
            </a:r>
          </a:p>
        </p:txBody>
      </p:sp>
      <p:sp>
        <p:nvSpPr>
          <p:cNvPr id="16" name="BodyText"/>
          <p:cNvSpPr/>
          <p:nvPr/>
        </p:nvSpPr>
        <p:spPr>
          <a:xfrm>
            <a:off x="5120280" y="304270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pt-BR" sz="1050" dirty="0">
                <a:solidFill>
                  <a:srgbClr val="374151"/>
                </a:solidFill>
                <a:latin typeface="Calibri" pitchFamily="34" charset="0"/>
              </a:rPr>
              <a:t>Em 2025, o Brasil consolidou-se como a segunda maior audiência digital de esportes do mundo, reforçando a necessidade de ferramentas tecnológicas que auxiliem na organização e acompanhamento dessas competições.</a:t>
            </a:r>
          </a:p>
        </p:txBody>
      </p:sp>
      <p:sp>
        <p:nvSpPr>
          <p:cNvPr id="17" name="FooterBar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18" name="FooterText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dirty="0">
                <a:solidFill>
                  <a:srgbClr val="6688AA"/>
                </a:solidFill>
                <a:latin typeface="Calibri" pitchFamily="34" charset="0"/>
              </a:rPr>
              <a:t>CupHub  |  Sprint 1</a:t>
            </a:r>
          </a:p>
        </p:txBody>
      </p:sp>
      <p:sp>
        <p:nvSpPr>
          <p:cNvPr id="21" name="AutoShape 2" descr="blob:https://web.whatsapp.com/332d2fbc-18c8-46d8-93d6-5b24c58fa79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AutoShape 4" descr="blob:https://web.whatsapp.com/332d2fbc-18c8-46d8-93d6-5b24c58fa79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579761"/>
            <a:ext cx="4389360" cy="2175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e ineficiência na gestão de torneios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32918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0233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Atuais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598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genéricos para inscrições desconectados do evento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70117"/>
            <a:ext cx="33832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Apps de </a:t>
            </a:r>
            <a:r>
              <a:rPr lang="en-US" sz="115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mensagens</a:t>
            </a: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usados</a:t>
            </a: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15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comunicação</a:t>
            </a: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integrada</a:t>
            </a:r>
            <a:r>
              <a:rPr lang="en-US" sz="1150" dirty="0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 e </a:t>
            </a:r>
            <a:r>
              <a:rPr lang="en-US" sz="1200" dirty="0" err="1">
                <a:solidFill>
                  <a:srgbClr val="D1D5DB"/>
                </a:solidFill>
                <a:latin typeface="Calibri"/>
                <a:ea typeface="Calibri"/>
                <a:cs typeface="Calibri"/>
              </a:rPr>
              <a:t>estruturada</a:t>
            </a:r>
            <a:endParaRPr lang="en-US" sz="1150" dirty="0" err="1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314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manuais para controle de chaves e resultados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172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Erros, retrabalho e inconsistências nas informações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4023360" cy="32918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402336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nos Participantes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029968"/>
            <a:ext cx="256032" cy="256032"/>
          </a:xfrm>
          <a:prstGeom prst="ellipse">
            <a:avLst/>
          </a:prstGeom>
          <a:solidFill>
            <a:srgbClr val="D4920A">
              <a:alpha val="40000"/>
            </a:srgbClr>
          </a:solidFill>
          <a:ln w="12700">
            <a:solidFill>
              <a:srgbClr val="D4920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8598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insatisfatória para os competidores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715768"/>
            <a:ext cx="256032" cy="256032"/>
          </a:xfrm>
          <a:prstGeom prst="ellipse">
            <a:avLst/>
          </a:prstGeom>
          <a:solidFill>
            <a:srgbClr val="D4920A">
              <a:alpha val="40000"/>
            </a:srgbClr>
          </a:solidFill>
          <a:ln w="12700">
            <a:solidFill>
              <a:srgbClr val="D4920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561953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lento e disperso a classificações e cronogramas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3401568"/>
            <a:ext cx="256032" cy="256032"/>
          </a:xfrm>
          <a:prstGeom prst="ellipse">
            <a:avLst/>
          </a:prstGeom>
          <a:solidFill>
            <a:srgbClr val="D4920A">
              <a:alpha val="40000"/>
            </a:srgbClr>
          </a:solidFill>
          <a:ln w="12700">
            <a:solidFill>
              <a:srgbClr val="D4920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2314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transparência nos resultados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4087368"/>
            <a:ext cx="256032" cy="256032"/>
          </a:xfrm>
          <a:prstGeom prst="ellipse">
            <a:avLst/>
          </a:prstGeom>
          <a:solidFill>
            <a:srgbClr val="D4920A">
              <a:alpha val="40000"/>
            </a:srgbClr>
          </a:solidFill>
          <a:ln w="12700">
            <a:solidFill>
              <a:srgbClr val="D4920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9172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no crescimento e profissionalização das competições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3A8F">
              <a:alpha val="40000"/>
            </a:srgbClr>
          </a:solidFill>
          <a:ln w="12700">
            <a:solidFill>
              <a:srgbClr val="1A3A8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828800"/>
          </a:xfrm>
          <a:prstGeom prst="rect">
            <a:avLst/>
          </a:prstGeom>
          <a:solidFill>
            <a:srgbClr val="0D1530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73152" cy="182880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sistema web em Java Spring Boot com banco de dados para automatizar os processos de gestão de torneios e campeonatos.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2011680" cy="1691640"/>
          </a:xfrm>
          <a:prstGeom prst="rect">
            <a:avLst/>
          </a:prstGeom>
          <a:solidFill>
            <a:srgbClr val="0D15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108960"/>
            <a:ext cx="201168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273552"/>
            <a:ext cx="640080" cy="640080"/>
          </a:xfrm>
          <a:prstGeom prst="ellipse">
            <a:avLst/>
          </a:prstGeom>
          <a:solidFill>
            <a:srgbClr val="0F1B4C"/>
          </a:solidFill>
          <a:ln w="19050">
            <a:solidFill>
              <a:srgbClr val="D4920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319272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40050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Configurar Eventos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68880" y="3108960"/>
            <a:ext cx="2011680" cy="1691640"/>
          </a:xfrm>
          <a:prstGeom prst="rect">
            <a:avLst/>
          </a:prstGeom>
          <a:solidFill>
            <a:srgbClr val="0D15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3108960"/>
            <a:ext cx="201168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5" name="Shape 12"/>
          <p:cNvSpPr/>
          <p:nvPr/>
        </p:nvSpPr>
        <p:spPr>
          <a:xfrm>
            <a:off x="3154680" y="3273552"/>
            <a:ext cx="640080" cy="640080"/>
          </a:xfrm>
          <a:prstGeom prst="ellipse">
            <a:avLst/>
          </a:prstGeom>
          <a:solidFill>
            <a:srgbClr val="0F1B4C"/>
          </a:solidFill>
          <a:ln w="19050">
            <a:solidFill>
              <a:srgbClr val="D4920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319272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40050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Inscrições de Times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17720" y="3108960"/>
            <a:ext cx="2011680" cy="1691640"/>
          </a:xfrm>
          <a:prstGeom prst="rect">
            <a:avLst/>
          </a:prstGeom>
          <a:solidFill>
            <a:srgbClr val="0D15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17720" y="3108960"/>
            <a:ext cx="201168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0" name="Shape 16"/>
          <p:cNvSpPr/>
          <p:nvPr/>
        </p:nvSpPr>
        <p:spPr>
          <a:xfrm>
            <a:off x="5303520" y="3273552"/>
            <a:ext cx="640080" cy="640080"/>
          </a:xfrm>
          <a:prstGeom prst="ellipse">
            <a:avLst/>
          </a:prstGeom>
          <a:solidFill>
            <a:srgbClr val="0F1B4C"/>
          </a:solidFill>
          <a:ln w="19050">
            <a:solidFill>
              <a:srgbClr val="D4920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319272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40050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Chaveamentos Automáticos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66560" y="3108960"/>
            <a:ext cx="2011680" cy="1691640"/>
          </a:xfrm>
          <a:prstGeom prst="rect">
            <a:avLst/>
          </a:prstGeom>
          <a:solidFill>
            <a:srgbClr val="0D15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3108960"/>
            <a:ext cx="201168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5" name="Shape 20"/>
          <p:cNvSpPr/>
          <p:nvPr/>
        </p:nvSpPr>
        <p:spPr>
          <a:xfrm>
            <a:off x="7452360" y="3273552"/>
            <a:ext cx="640080" cy="640080"/>
          </a:xfrm>
          <a:prstGeom prst="ellipse">
            <a:avLst/>
          </a:prstGeom>
          <a:solidFill>
            <a:srgbClr val="0F1B4C"/>
          </a:solidFill>
          <a:ln w="19050">
            <a:solidFill>
              <a:srgbClr val="D4920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319272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40050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Desempenho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9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34440"/>
            <a:ext cx="416052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371600"/>
            <a:ext cx="457200" cy="4572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4356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BPMN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processos de negócio (fluxo de inscrição e validação de resultados) em notação BPMN para garantir clareza e rastreabilidade em cada etapa.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234440"/>
            <a:ext cx="416052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15" name="Shape 11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4356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1371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de Chaveamentos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73752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e desenvolver módulos de geração automática de chaveamentos: eliminatórias simples, dupla eliminação, pontuação obtida e classificações gerais.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1546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154680"/>
            <a:ext cx="416052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2" name="Shape 17"/>
          <p:cNvSpPr/>
          <p:nvPr/>
        </p:nvSpPr>
        <p:spPr>
          <a:xfrm>
            <a:off x="411480" y="3291840"/>
            <a:ext cx="457200" cy="4572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114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5584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3291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Relatórios e Dashboards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38912" y="3794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relatórios de desempenho por rodada com dashboards interativos (KPIs) para apoiar a tomada de decisão dos organizadores.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09160" y="31546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09160" y="3154680"/>
            <a:ext cx="416052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9" name="Shape 23"/>
          <p:cNvSpPr/>
          <p:nvPr/>
        </p:nvSpPr>
        <p:spPr>
          <a:xfrm>
            <a:off x="4846320" y="3291840"/>
            <a:ext cx="457200" cy="4572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463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35584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852160" y="3291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Histórico de Partidas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873752" y="3794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módulo de consulta de histórico com acesso a resultados estatísticos e registros completos de partidas passadas.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5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Justificativas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desenvolvemos o CupHub?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3474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02336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Motivação de Mercado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993392"/>
            <a:ext cx="201168" cy="201168"/>
          </a:xfrm>
          <a:prstGeom prst="ellipse">
            <a:avLst/>
          </a:prstGeom>
          <a:solidFill>
            <a:srgbClr val="D4920A">
              <a:alpha val="50000"/>
            </a:srgbClr>
          </a:solidFill>
          <a:ln w="12700">
            <a:solidFill>
              <a:srgbClr val="D4920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5492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identificada: falta de ferramenta unificada para torneios amadores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679192"/>
            <a:ext cx="201168" cy="201168"/>
          </a:xfrm>
          <a:prstGeom prst="ellipse">
            <a:avLst/>
          </a:prstGeom>
          <a:solidFill>
            <a:srgbClr val="D4920A">
              <a:alpha val="50000"/>
            </a:srgbClr>
          </a:solidFill>
          <a:ln w="12700">
            <a:solidFill>
              <a:srgbClr val="D4920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6233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existentes (ex: Placar.app) são restritas a modalidades específicas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3364992"/>
            <a:ext cx="201168" cy="201168"/>
          </a:xfrm>
          <a:prstGeom prst="ellipse">
            <a:avLst/>
          </a:prstGeom>
          <a:solidFill>
            <a:srgbClr val="D4920A">
              <a:alpha val="50000"/>
            </a:srgbClr>
          </a:solidFill>
          <a:ln w="12700">
            <a:solidFill>
              <a:srgbClr val="D4920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693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ampla e escalável para diferentes modalidades esportivas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4050792"/>
            <a:ext cx="201168" cy="201168"/>
          </a:xfrm>
          <a:prstGeom prst="ellipse">
            <a:avLst/>
          </a:prstGeom>
          <a:solidFill>
            <a:srgbClr val="D4920A">
              <a:alpha val="50000"/>
            </a:srgbClr>
          </a:solidFill>
          <a:ln w="12700">
            <a:solidFill>
              <a:srgbClr val="D4920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7833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acessível para organizadores e competidores de qualquer nível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023360" cy="3474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25880"/>
            <a:ext cx="4023360" cy="6400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44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Aprendizado Acadêmico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0328" y="1993392"/>
            <a:ext cx="201168" cy="201168"/>
          </a:xfrm>
          <a:prstGeom prst="ellipse">
            <a:avLst/>
          </a:prstGeom>
          <a:solidFill>
            <a:srgbClr val="1A3A8F">
              <a:alpha val="50000"/>
            </a:srgbClr>
          </a:solidFill>
          <a:ln w="12700">
            <a:solidFill>
              <a:srgbClr val="1A3A8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85492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 de Engenharia de Software no mundo real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10328" y="2679192"/>
            <a:ext cx="201168" cy="201168"/>
          </a:xfrm>
          <a:prstGeom prst="ellipse">
            <a:avLst/>
          </a:prstGeom>
          <a:solidFill>
            <a:srgbClr val="1A3A8F">
              <a:alpha val="50000"/>
            </a:srgbClr>
          </a:solidFill>
          <a:ln w="12700">
            <a:solidFill>
              <a:srgbClr val="1A3A8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516233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e análise de </a:t>
            </a:r>
            <a:r>
              <a:rPr lang="en-US" sz="1150" dirty="0" smtClean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0328" y="3364992"/>
            <a:ext cx="201168" cy="201168"/>
          </a:xfrm>
          <a:prstGeom prst="ellipse">
            <a:avLst/>
          </a:prstGeom>
          <a:solidFill>
            <a:srgbClr val="1A3A8F">
              <a:alpha val="50000"/>
            </a:srgbClr>
          </a:solidFill>
          <a:ln w="12700">
            <a:solidFill>
              <a:srgbClr val="1A3A8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1693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processos de negócio com notação BPMN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4050792"/>
            <a:ext cx="201168" cy="201168"/>
          </a:xfrm>
          <a:prstGeom prst="ellipse">
            <a:avLst/>
          </a:prstGeom>
          <a:solidFill>
            <a:srgbClr val="1A3A8F">
              <a:alpha val="50000"/>
            </a:srgbClr>
          </a:solidFill>
          <a:ln w="12700">
            <a:solidFill>
              <a:srgbClr val="1A3A8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887833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incremental por Sprints com entregas contínuas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Perfis dos Usuários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8" name="Shape 5"/>
          <p:cNvSpPr/>
          <p:nvPr/>
        </p:nvSpPr>
        <p:spPr>
          <a:xfrm>
            <a:off x="132588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Organizador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1463040" cy="274320"/>
          </a:xfrm>
          <a:prstGeom prst="rect">
            <a:avLst/>
          </a:prstGeom>
          <a:solidFill>
            <a:srgbClr val="D4920A">
              <a:alpha val="20000"/>
            </a:srgbClr>
          </a:solidFill>
          <a:ln w="12700">
            <a:solidFill>
              <a:srgbClr val="D4920A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anos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1148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 do torneio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18688"/>
            <a:ext cx="146304" cy="146304"/>
          </a:xfrm>
          <a:prstGeom prst="ellipse">
            <a:avLst/>
          </a:prstGeom>
          <a:solidFill>
            <a:srgbClr val="D4920A">
              <a:alpha val="60000"/>
            </a:srgbClr>
          </a:solidFill>
          <a:ln w="12700">
            <a:solidFill>
              <a:srgbClr val="D4920A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configura eventos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566160"/>
            <a:ext cx="146304" cy="146304"/>
          </a:xfrm>
          <a:prstGeom prst="ellipse">
            <a:avLst/>
          </a:prstGeom>
          <a:solidFill>
            <a:srgbClr val="D4920A">
              <a:alpha val="60000"/>
            </a:srgbClr>
          </a:solidFill>
          <a:ln w="12700">
            <a:solidFill>
              <a:srgbClr val="D4920A">
                <a:alpha val="6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5112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inscrições de times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913632"/>
            <a:ext cx="146304" cy="146304"/>
          </a:xfrm>
          <a:prstGeom prst="ellipse">
            <a:avLst/>
          </a:prstGeom>
          <a:solidFill>
            <a:srgbClr val="D4920A">
              <a:alpha val="60000"/>
            </a:srgbClr>
          </a:solidFill>
          <a:ln w="12700">
            <a:solidFill>
              <a:srgbClr val="D4920A">
                <a:alpha val="6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3858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chaveamentos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4261104"/>
            <a:ext cx="146304" cy="146304"/>
          </a:xfrm>
          <a:prstGeom prst="ellipse">
            <a:avLst/>
          </a:prstGeom>
          <a:solidFill>
            <a:srgbClr val="D4920A">
              <a:alpha val="60000"/>
            </a:srgbClr>
          </a:solidFill>
          <a:ln w="12700">
            <a:solidFill>
              <a:srgbClr val="D4920A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resultados e relatórios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D4920A">
              <a:alpha val="60000"/>
            </a:srgbClr>
          </a:solidFill>
          <a:ln w="12700">
            <a:solidFill>
              <a:srgbClr val="D4920A">
                <a:alpha val="6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" y="45537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 o vencedor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154680" y="12344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154680" y="123444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463040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9184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Participante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3794760" y="2514600"/>
            <a:ext cx="146304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7947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10–50 </a:t>
            </a:r>
            <a:r>
              <a:rPr lang="en-US" sz="950" b="1" dirty="0" err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anos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2918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torneio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337560" y="3218688"/>
            <a:ext cx="146304" cy="146304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56616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chaveamento e classificação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566160"/>
            <a:ext cx="146304" cy="146304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66160" y="35112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datas e horários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3913632"/>
            <a:ext cx="146304" cy="146304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66160" y="3858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estatísticas individuais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261104"/>
            <a:ext cx="146304" cy="146304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56616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evolução do time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337560" y="4608576"/>
            <a:ext cx="146304" cy="146304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566160" y="45537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via smartphone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035040" y="123444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035040" y="123444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39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463040"/>
            <a:ext cx="548640" cy="54864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17220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47" name="Shape 41"/>
          <p:cNvSpPr/>
          <p:nvPr/>
        </p:nvSpPr>
        <p:spPr>
          <a:xfrm>
            <a:off x="6675120" y="2514600"/>
            <a:ext cx="146304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6751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18–50 anos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61722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plataforma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217920" y="3218688"/>
            <a:ext cx="146304" cy="146304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44652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usuários e permissões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6217920" y="3566160"/>
            <a:ext cx="146304" cy="146304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446520" y="35112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funcionamento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6217920" y="3913632"/>
            <a:ext cx="146304" cy="146304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446520" y="3858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manutenção e atualizações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6217920" y="4261104"/>
            <a:ext cx="146304" cy="146304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44652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parâmetros globais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217920" y="4608576"/>
            <a:ext cx="146304" cy="146304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46520" y="45537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segurança e integridade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61" name="Text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CupHub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dirty="0">
                <a:solidFill>
                  <a:srgbClr val="FFFFFF"/>
                </a:solidFill>
                <a:latin typeface="Trebuchet MS" pitchFamily="34" charset="0"/>
              </a:rPr>
              <a:t>Processos de Negócio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dirty="0">
                <a:solidFill>
                  <a:srgbClr val="F5B731"/>
                </a:solidFill>
                <a:latin typeface="Calibri" pitchFamily="34" charset="0"/>
              </a:rPr>
              <a:t>Os 4 processos principais que serão automatizados pelo CupHub</a:t>
            </a:r>
          </a:p>
        </p:txBody>
      </p:sp>
      <p:sp>
        <p:nvSpPr>
          <p:cNvPr id="10" name="Card1Bg"/>
          <p:cNvSpPr/>
          <p:nvPr/>
        </p:nvSpPr>
        <p:spPr>
          <a:xfrm>
            <a:off x="320040" y="1280160"/>
            <a:ext cx="4023360" cy="1700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Card1Bar"/>
          <p:cNvSpPr/>
          <p:nvPr/>
        </p:nvSpPr>
        <p:spPr>
          <a:xfrm>
            <a:off x="320040" y="1280160"/>
            <a:ext cx="4023360" cy="5616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2" name="Card1NumBg"/>
          <p:cNvSpPr/>
          <p:nvPr/>
        </p:nvSpPr>
        <p:spPr>
          <a:xfrm>
            <a:off x="457200" y="1356480"/>
            <a:ext cx="5486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Card1Num"/>
          <p:cNvSpPr/>
          <p:nvPr/>
        </p:nvSpPr>
        <p:spPr>
          <a:xfrm>
            <a:off x="457200" y="1356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B731"/>
                </a:solidFill>
                <a:latin typeface="Trebuchet MS" pitchFamily="34" charset="0"/>
              </a:rPr>
              <a:t>01</a:t>
            </a:r>
          </a:p>
        </p:txBody>
      </p:sp>
      <p:sp>
        <p:nvSpPr>
          <p:cNvPr id="14" name="Card1Title"/>
          <p:cNvSpPr/>
          <p:nvPr/>
        </p:nvSpPr>
        <p:spPr>
          <a:xfrm>
            <a:off x="1097280" y="1356480"/>
            <a:ext cx="320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F5B731"/>
                </a:solidFill>
                <a:latin typeface="Trebuchet MS" pitchFamily="34" charset="0"/>
              </a:rPr>
              <a:t>Criação de Torneio</a:t>
            </a:r>
          </a:p>
        </p:txBody>
      </p:sp>
      <p:sp>
        <p:nvSpPr>
          <p:cNvPr id="15" name="Card1Body"/>
          <p:cNvSpPr/>
          <p:nvPr/>
        </p:nvSpPr>
        <p:spPr>
          <a:xfrm>
            <a:off x="457200" y="1856160"/>
            <a:ext cx="3840840" cy="105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pt-BR" sz="1100" dirty="0">
                <a:solidFill>
                  <a:srgbClr val="D1D5DB"/>
                </a:solidFill>
                <a:latin typeface="Calibri" pitchFamily="34" charset="0"/>
              </a:rPr>
              <a:t>O organizador configura o torneio definindo nome, modalidade, formato (mata-mata ou grupos) e regras. O processo termina com o evento publicado e aberto para inscrições.</a:t>
            </a:r>
          </a:p>
        </p:txBody>
      </p:sp>
      <p:sp>
        <p:nvSpPr>
          <p:cNvPr id="20" name="Card2Bg"/>
          <p:cNvSpPr/>
          <p:nvPr/>
        </p:nvSpPr>
        <p:spPr>
          <a:xfrm>
            <a:off x="4800600" y="1280160"/>
            <a:ext cx="4023360" cy="1700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Card2Bar"/>
          <p:cNvSpPr/>
          <p:nvPr/>
        </p:nvSpPr>
        <p:spPr>
          <a:xfrm>
            <a:off x="4800600" y="1280160"/>
            <a:ext cx="4023360" cy="5616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2" name="Card2NumBg"/>
          <p:cNvSpPr/>
          <p:nvPr/>
        </p:nvSpPr>
        <p:spPr>
          <a:xfrm>
            <a:off x="4937760" y="1356480"/>
            <a:ext cx="5486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Card2Num"/>
          <p:cNvSpPr/>
          <p:nvPr/>
        </p:nvSpPr>
        <p:spPr>
          <a:xfrm>
            <a:off x="4937760" y="1356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B731"/>
                </a:solidFill>
                <a:latin typeface="Trebuchet MS" pitchFamily="34" charset="0"/>
              </a:rPr>
              <a:t>02</a:t>
            </a:r>
          </a:p>
        </p:txBody>
      </p:sp>
      <p:sp>
        <p:nvSpPr>
          <p:cNvPr id="24" name="Card2Title"/>
          <p:cNvSpPr/>
          <p:nvPr/>
        </p:nvSpPr>
        <p:spPr>
          <a:xfrm>
            <a:off x="5577840" y="1356480"/>
            <a:ext cx="320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F5B731"/>
                </a:solidFill>
                <a:latin typeface="Trebuchet MS" pitchFamily="34" charset="0"/>
              </a:rPr>
              <a:t>Inscrição de Times</a:t>
            </a:r>
          </a:p>
        </p:txBody>
      </p:sp>
      <p:sp>
        <p:nvSpPr>
          <p:cNvPr id="25" name="Card2Body"/>
          <p:cNvSpPr/>
          <p:nvPr/>
        </p:nvSpPr>
        <p:spPr>
          <a:xfrm>
            <a:off x="4937760" y="1856160"/>
            <a:ext cx="3840840" cy="105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pt-BR" sz="1100" dirty="0">
                <a:solidFill>
                  <a:srgbClr val="D1D5DB"/>
                </a:solidFill>
                <a:latin typeface="Calibri" pitchFamily="34" charset="0"/>
              </a:rPr>
              <a:t>O capitão cadastra o time e os jogadores, enviando a solicitação. O organizador analisa e aprova ou rejeita. O processo termina com a confirmação da vaga.</a:t>
            </a:r>
          </a:p>
        </p:txBody>
      </p:sp>
      <p:sp>
        <p:nvSpPr>
          <p:cNvPr id="30" name="Card3Bg"/>
          <p:cNvSpPr/>
          <p:nvPr/>
        </p:nvSpPr>
        <p:spPr>
          <a:xfrm>
            <a:off x="320040" y="3109680"/>
            <a:ext cx="4023360" cy="1700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Card3Bar"/>
          <p:cNvSpPr/>
          <p:nvPr/>
        </p:nvSpPr>
        <p:spPr>
          <a:xfrm>
            <a:off x="320040" y="3109680"/>
            <a:ext cx="4023360" cy="5616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32" name="Card3NumBg"/>
          <p:cNvSpPr/>
          <p:nvPr/>
        </p:nvSpPr>
        <p:spPr>
          <a:xfrm>
            <a:off x="457200" y="3186000"/>
            <a:ext cx="5486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Card3Num"/>
          <p:cNvSpPr/>
          <p:nvPr/>
        </p:nvSpPr>
        <p:spPr>
          <a:xfrm>
            <a:off x="457200" y="31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B731"/>
                </a:solidFill>
                <a:latin typeface="Trebuchet MS" pitchFamily="34" charset="0"/>
              </a:rPr>
              <a:t>03</a:t>
            </a:r>
          </a:p>
        </p:txBody>
      </p:sp>
      <p:sp>
        <p:nvSpPr>
          <p:cNvPr id="34" name="Card3Title"/>
          <p:cNvSpPr/>
          <p:nvPr/>
        </p:nvSpPr>
        <p:spPr>
          <a:xfrm>
            <a:off x="1097280" y="3186000"/>
            <a:ext cx="320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F5B731"/>
                </a:solidFill>
                <a:latin typeface="Trebuchet MS" pitchFamily="34" charset="0"/>
              </a:rPr>
              <a:t>Registro de Resultados</a:t>
            </a:r>
          </a:p>
        </p:txBody>
      </p:sp>
      <p:sp>
        <p:nvSpPr>
          <p:cNvPr id="35" name="Card3Body"/>
          <p:cNvSpPr/>
          <p:nvPr/>
        </p:nvSpPr>
        <p:spPr>
          <a:xfrm>
            <a:off x="457200" y="3685680"/>
            <a:ext cx="3840840" cy="105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pt-BR" sz="1100" dirty="0">
                <a:solidFill>
                  <a:srgbClr val="D1D5DB"/>
                </a:solidFill>
                <a:latin typeface="Calibri" pitchFamily="34" charset="0"/>
              </a:rPr>
              <a:t>Após a partida, o organizador registra o placar. </a:t>
            </a:r>
            <a:r>
              <a:rPr lang="pt-BR" sz="1100" dirty="0" smtClean="0">
                <a:solidFill>
                  <a:srgbClr val="D1D5DB"/>
                </a:solidFill>
                <a:latin typeface="Calibri" pitchFamily="34" charset="0"/>
              </a:rPr>
              <a:t>Viés </a:t>
            </a:r>
            <a:r>
              <a:rPr lang="pt-BR" sz="1100" dirty="0">
                <a:solidFill>
                  <a:srgbClr val="D1D5DB"/>
                </a:solidFill>
                <a:latin typeface="Calibri" pitchFamily="34" charset="0"/>
              </a:rPr>
              <a:t>de chaveamento, demonstrando clareza sobre o processo de seleção de times para os participantes. O processo termina com o resultado homologado.</a:t>
            </a:r>
          </a:p>
        </p:txBody>
      </p:sp>
      <p:sp>
        <p:nvSpPr>
          <p:cNvPr id="40" name="Card4Bg"/>
          <p:cNvSpPr/>
          <p:nvPr/>
        </p:nvSpPr>
        <p:spPr>
          <a:xfrm>
            <a:off x="4800600" y="3109680"/>
            <a:ext cx="4023360" cy="1700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Card4Bar"/>
          <p:cNvSpPr/>
          <p:nvPr/>
        </p:nvSpPr>
        <p:spPr>
          <a:xfrm>
            <a:off x="4800600" y="3109680"/>
            <a:ext cx="4023360" cy="5616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42" name="Card4NumBg"/>
          <p:cNvSpPr/>
          <p:nvPr/>
        </p:nvSpPr>
        <p:spPr>
          <a:xfrm>
            <a:off x="4937760" y="3186000"/>
            <a:ext cx="5486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Card4Num"/>
          <p:cNvSpPr/>
          <p:nvPr/>
        </p:nvSpPr>
        <p:spPr>
          <a:xfrm>
            <a:off x="4937760" y="31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B731"/>
                </a:solidFill>
                <a:latin typeface="Trebuchet MS" pitchFamily="34" charset="0"/>
              </a:rPr>
              <a:t>04</a:t>
            </a:r>
          </a:p>
        </p:txBody>
      </p:sp>
      <p:sp>
        <p:nvSpPr>
          <p:cNvPr id="44" name="Card4Title"/>
          <p:cNvSpPr/>
          <p:nvPr/>
        </p:nvSpPr>
        <p:spPr>
          <a:xfrm>
            <a:off x="5577840" y="3186000"/>
            <a:ext cx="320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F5B731"/>
                </a:solidFill>
                <a:latin typeface="Trebuchet MS" pitchFamily="34" charset="0"/>
              </a:rPr>
              <a:t>Geração de Chaveamento</a:t>
            </a:r>
          </a:p>
        </p:txBody>
      </p:sp>
      <p:sp>
        <p:nvSpPr>
          <p:cNvPr id="45" name="Card4Body"/>
          <p:cNvSpPr/>
          <p:nvPr/>
        </p:nvSpPr>
        <p:spPr>
          <a:xfrm>
            <a:off x="4937760" y="3685680"/>
            <a:ext cx="3840840" cy="105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pt-BR" sz="1100" dirty="0">
                <a:solidFill>
                  <a:srgbClr val="D1D5DB"/>
                </a:solidFill>
                <a:latin typeface="Calibri" pitchFamily="34" charset="0"/>
              </a:rPr>
              <a:t>Após o encerramento das inscrições, o organizador solicita a geração das chaves. O sistema organiza os times automaticamente e publica os confrontos.</a:t>
            </a:r>
          </a:p>
        </p:txBody>
      </p:sp>
      <p:sp>
        <p:nvSpPr>
          <p:cNvPr id="50" name="FooterBar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1" name="FooterText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dirty="0">
                <a:solidFill>
                  <a:srgbClr val="4B5563"/>
                </a:solidFill>
                <a:latin typeface="Calibri" pitchFamily="34" charset="0"/>
              </a:rPr>
              <a:t>CupHub  |  Sprint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3613" y="0"/>
            <a:ext cx="4754880" cy="5143500"/>
          </a:xfrm>
          <a:prstGeom prst="rect">
            <a:avLst/>
          </a:prstGeom>
          <a:solidFill>
            <a:srgbClr val="0F1B4C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D492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CupHub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Torneios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822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3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5488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150" i="1" dirty="0">
              <a:solidFill>
                <a:srgbClr val="9CA3A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754880" y="4251960"/>
            <a:ext cx="4023360" cy="502920"/>
          </a:xfrm>
          <a:prstGeom prst="rect">
            <a:avLst/>
          </a:prstGeom>
          <a:solidFill>
            <a:srgbClr val="D4920A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4251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 •  Engenharia de Software  •  2025</a:t>
            </a:r>
            <a:endParaRPr lang="en-US" sz="1100" dirty="0"/>
          </a:p>
        </p:txBody>
      </p:sp>
      <p:sp>
        <p:nvSpPr>
          <p:cNvPr id="21" name="CaixaDeTexto 21">
            <a:extLst>
              <a:ext uri="{FF2B5EF4-FFF2-40B4-BE49-F238E27FC236}">
                <a16:creationId xmlns="" xmlns:a16="http://schemas.microsoft.com/office/drawing/2014/main" id="{7DD50EB5-3D6B-993B-8E8B-F03B3495F196}"/>
              </a:ext>
            </a:extLst>
          </p:cNvPr>
          <p:cNvSpPr txBox="1"/>
          <p:nvPr/>
        </p:nvSpPr>
        <p:spPr>
          <a:xfrm>
            <a:off x="4753263" y="1768789"/>
            <a:ext cx="4474607" cy="19082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Participantes: </a:t>
            </a: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Arthur Mendes</a:t>
            </a: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Gabriel Pinhão</a:t>
            </a: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Gustavo Carvalho</a:t>
            </a: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Lucas Pós</a:t>
            </a:r>
            <a:endParaRPr lang="pt-BR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Henrique Caldeira</a:t>
            </a:r>
            <a:endParaRPr lang="pt-BR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Pedro Gonçalves.</a:t>
            </a:r>
            <a:endParaRPr lang="pt-BR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  <a:p>
            <a:endParaRPr lang="pt-BR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754</Words>
  <Application>Microsoft Office PowerPoint</Application>
  <PresentationFormat>Apresentação na tela (16:9)</PresentationFormat>
  <Paragraphs>128</Paragraphs>
  <Slides>10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CupHub - Sistema de Gestão de Torneios</dc:title>
  <dc:subject>PptxGenJS Presentation</dc:subject>
  <dc:creator>PptxGenJS</dc:creator>
  <cp:lastModifiedBy>henrique</cp:lastModifiedBy>
  <cp:revision>97</cp:revision>
  <dcterms:created xsi:type="dcterms:W3CDTF">2026-03-03T20:37:22Z</dcterms:created>
  <dcterms:modified xsi:type="dcterms:W3CDTF">2026-03-10T18:46:43Z</dcterms:modified>
</cp:coreProperties>
</file>